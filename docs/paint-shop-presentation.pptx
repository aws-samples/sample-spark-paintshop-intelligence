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9900"/>
                </a:solidFill>
              </a:rPr>
              <a:t>Amazon Web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005840"/>
            <a:ext cx="9628632" cy="484632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325880"/>
            <a:ext cx="85313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9900"/>
                </a:solidFill>
              </a:rPr>
              <a:t>SPARK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423160"/>
            <a:ext cx="8531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Smart Paint-shop Anomaly Response &amp; Knowledge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200400"/>
            <a:ext cx="11640312" cy="1828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337560"/>
            <a:ext cx="8531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5DBDB"/>
                </a:solidFill>
              </a:rPr>
              <a:t>Real-time anomaly detection  •  Autonomous rescheduling  •  Root-cause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91640" y="4160520"/>
            <a:ext cx="1147572" cy="365760"/>
          </a:xfrm>
          <a:prstGeom prst="roundRect">
            <a:avLst>
              <a:gd name="adj" fmla="val 10000"/>
            </a:avLst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46504" y="4178808"/>
            <a:ext cx="10378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2F3E"/>
                </a:solidFill>
              </a:rPr>
              <a:t>Kinesis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67228" y="4160520"/>
            <a:ext cx="1778508" cy="365760"/>
          </a:xfrm>
          <a:prstGeom prst="roundRect">
            <a:avLst>
              <a:gd name="adj" fmla="val 10000"/>
            </a:avLst>
          </a:prstGeom>
          <a:solidFill>
            <a:srgbClr val="71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22092" y="4178808"/>
            <a:ext cx="16687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2F3E"/>
                </a:solidFill>
              </a:rPr>
              <a:t>SageMaker MCE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73752" y="4160520"/>
            <a:ext cx="2199132" cy="365760"/>
          </a:xfrm>
          <a:prstGeom prst="roundRect">
            <a:avLst>
              <a:gd name="adj" fmla="val 10000"/>
            </a:avLst>
          </a:prstGeom>
          <a:solidFill>
            <a:srgbClr val="EC7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28616" y="4178808"/>
            <a:ext cx="20894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2F3E"/>
                </a:solidFill>
              </a:rPr>
              <a:t>Bedrock AgentCore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00900" y="4160520"/>
            <a:ext cx="1147572" cy="365760"/>
          </a:xfrm>
          <a:prstGeom prst="roundRect">
            <a:avLst>
              <a:gd name="adj" fmla="val 10000"/>
            </a:avLst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55764" y="4178808"/>
            <a:ext cx="10378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2F3E"/>
                </a:solidFill>
              </a:rPr>
              <a:t>Neptune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76488" y="4160520"/>
            <a:ext cx="1883664" cy="365760"/>
          </a:xfrm>
          <a:prstGeom prst="roundRect">
            <a:avLst>
              <a:gd name="adj" fmla="val 10000"/>
            </a:avLst>
          </a:prstGeom>
          <a:solidFill>
            <a:srgbClr val="01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2" y="4178808"/>
            <a:ext cx="17739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2F3E"/>
                </a:solidFill>
              </a:rPr>
              <a:t>Step Functions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88167" y="4160520"/>
            <a:ext cx="726948" cy="365760"/>
          </a:xfrm>
          <a:prstGeom prst="roundRect">
            <a:avLst>
              <a:gd name="adj" fmla="val 10000"/>
            </a:avLst>
          </a:prstGeom>
          <a:solidFill>
            <a:srgbClr val="1A9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43032" y="4178808"/>
            <a:ext cx="6172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2F3E"/>
                </a:solidFill>
              </a:rPr>
              <a:t>CDK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26364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F8C8D"/>
                </a:solidFill>
              </a:rPr>
              <a:t>NAMER AutoMFG BM2026  •  Team 2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941832"/>
          </a:xfrm>
          <a:prstGeom prst="rect">
            <a:avLst/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5DBDB"/>
                </a:solidFill>
              </a:rPr>
              <a:t>End-to-end AWS cloud-native pipeline — all components deployed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645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9900"/>
                </a:solidFill>
              </a:rPr>
              <a:t>Amazon Web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115568"/>
            <a:ext cx="2743200" cy="384048"/>
          </a:xfrm>
          <a:prstGeom prst="roundRect">
            <a:avLst>
              <a:gd name="adj" fmla="val 10000"/>
            </a:avLst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1338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2F3E"/>
                </a:solidFill>
              </a:rPr>
              <a:t>DATA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" y="1664208"/>
            <a:ext cx="2596896" cy="1261872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1752" y="1664208"/>
            <a:ext cx="54864" cy="12618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82880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IoT Simulator
(Lambda, 1-min cron)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" y="3127248"/>
            <a:ext cx="2596896" cy="1261872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1752" y="3127248"/>
            <a:ext cx="54864" cy="12618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329184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Kinesis Data Stream
(12 shards, 24h)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" y="4590288"/>
            <a:ext cx="2596896" cy="1261872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1752" y="4590288"/>
            <a:ext cx="54864" cy="12618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475488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Kinesis Firehose
(Parquet → S3)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1115568"/>
            <a:ext cx="2743200" cy="384048"/>
          </a:xfrm>
          <a:prstGeom prst="roundRect">
            <a:avLst>
              <a:gd name="adj" fmla="val 10000"/>
            </a:avLst>
          </a:prstGeom>
          <a:solidFill>
            <a:srgbClr val="71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11338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2F3E"/>
                </a:solidFill>
              </a:rPr>
              <a:t>ML PROCESSING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64992" y="1664208"/>
            <a:ext cx="2596896" cy="1261872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4992" y="1664208"/>
            <a:ext cx="54864" cy="1261872"/>
          </a:xfrm>
          <a:prstGeom prst="rect">
            <a:avLst/>
          </a:prstGeom>
          <a:solidFill>
            <a:srgbClr val="71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3008" y="182880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Stream Processor
(Lambda consumer)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64992" y="3127248"/>
            <a:ext cx="2596896" cy="1261872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64992" y="3127248"/>
            <a:ext cx="54864" cy="1261872"/>
          </a:xfrm>
          <a:prstGeom prst="rect">
            <a:avLst/>
          </a:prstGeom>
          <a:solidFill>
            <a:srgbClr val="71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93008" y="329184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SageMaker MCE
(IF + LSTM + XGBoost
InService ✓)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64992" y="4590288"/>
            <a:ext cx="2596896" cy="1261872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64992" y="4590288"/>
            <a:ext cx="54864" cy="1261872"/>
          </a:xfrm>
          <a:prstGeom prst="rect">
            <a:avLst/>
          </a:prstGeom>
          <a:solidFill>
            <a:srgbClr val="71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93008" y="475488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EventBridge
TankAnomalyDetected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1115568"/>
            <a:ext cx="2743200" cy="384048"/>
          </a:xfrm>
          <a:prstGeom prst="roundRect">
            <a:avLst>
              <a:gd name="adj" fmla="val 10000"/>
            </a:avLst>
          </a:prstGeom>
          <a:solidFill>
            <a:srgbClr val="EC7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11338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2F3E"/>
                </a:solidFill>
              </a:rPr>
              <a:t>ORCHESTRATION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28232" y="1664208"/>
            <a:ext cx="2596896" cy="1261872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28232" y="1664208"/>
            <a:ext cx="54864" cy="1261872"/>
          </a:xfrm>
          <a:prstGeom prst="rect">
            <a:avLst/>
          </a:prstGeom>
          <a:solidFill>
            <a:srgbClr val="EC7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56248" y="182880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Step Functions
(6-step workflow)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28232" y="3127248"/>
            <a:ext cx="2596896" cy="1261872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28232" y="3127248"/>
            <a:ext cx="54864" cy="1261872"/>
          </a:xfrm>
          <a:prstGeom prst="rect">
            <a:avLst/>
          </a:prstGeom>
          <a:solidFill>
            <a:srgbClr val="EC7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56248" y="329184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MPS AgentCore
(reschedule jobs)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28232" y="4590288"/>
            <a:ext cx="2596896" cy="1261872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28232" y="4590288"/>
            <a:ext cx="54864" cy="1261872"/>
          </a:xfrm>
          <a:prstGeom prst="rect">
            <a:avLst/>
          </a:prstGeom>
          <a:solidFill>
            <a:srgbClr val="EC7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6248" y="475488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RCA AgentCore
(root-cause report)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18320" y="1115568"/>
            <a:ext cx="2743200" cy="384048"/>
          </a:xfrm>
          <a:prstGeom prst="roundRect">
            <a:avLst>
              <a:gd name="adj" fmla="val 10000"/>
            </a:avLst>
          </a:prstGeom>
          <a:solidFill>
            <a:srgbClr val="1A9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20" y="11338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2F3E"/>
                </a:solidFill>
              </a:rPr>
              <a:t>STORAGE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91472" y="1664208"/>
            <a:ext cx="2596896" cy="1261872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491472" y="1664208"/>
            <a:ext cx="54864" cy="1261872"/>
          </a:xfrm>
          <a:prstGeom prst="rect">
            <a:avLst/>
          </a:prstGeom>
          <a:solidFill>
            <a:srgbClr val="1A9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9488" y="182880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DynamoDB
tank-status, jobs,
rca-reports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91472" y="3127248"/>
            <a:ext cx="2596896" cy="1261872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491472" y="3127248"/>
            <a:ext cx="54864" cy="1261872"/>
          </a:xfrm>
          <a:prstGeom prst="rect">
            <a:avLst/>
          </a:prstGeom>
          <a:solidFill>
            <a:srgbClr val="1A9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19488" y="329184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Neptune KG
(fault graph,
Gremlin)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91472" y="4590288"/>
            <a:ext cx="2596896" cy="1261872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491472" y="4590288"/>
            <a:ext cx="54864" cy="1261872"/>
          </a:xfrm>
          <a:prstGeom prst="rect">
            <a:avLst/>
          </a:prstGeom>
          <a:solidFill>
            <a:srgbClr val="1A9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19488" y="475488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S3 + Bedrock KB
(SOP documents)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44368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9900"/>
                </a:solidFill>
              </a:rPr>
              <a:t>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07608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9900"/>
                </a:solidFill>
              </a:rPr>
              <a:t>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70848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9900"/>
                </a:solidFill>
              </a:rPr>
              <a:t>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629400"/>
            <a:ext cx="12188952" cy="155448"/>
          </a:xfrm>
          <a:prstGeom prst="rect">
            <a:avLst/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638544"/>
            <a:ext cx="116403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</a:rPr>
              <a:t>NAMER AutoMFG BM2026  •  Team 2  •  SPARK  •  CloudFront • API GW (REST + WebSocket) • Cognito • SSM • IAM • us-east-1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941832"/>
          </a:xfrm>
          <a:prstGeom prst="rect">
            <a:avLst/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5DBDB"/>
                </a:solidFill>
              </a:rPr>
              <a:t>From sensor reading to rescheduling decision — fully automated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645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9900"/>
                </a:solidFill>
              </a:rPr>
              <a:t>Amazon Web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" y="2148840"/>
            <a:ext cx="1691640" cy="150876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1752" y="2194560"/>
            <a:ext cx="420624" cy="420624"/>
          </a:xfrm>
          <a:prstGeom prst="roundRect">
            <a:avLst>
              <a:gd name="adj" fmla="val 10000"/>
            </a:avLst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2203704"/>
            <a:ext cx="420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32F3E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2679192"/>
            <a:ext cx="1600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Tank Sensor
Reading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3246120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5DBDB"/>
                </a:solidFill>
              </a:rPr>
              <a:t>12 tanks
1-min interval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79" y="27432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9900"/>
                </a:solidFill>
              </a:rPr>
              <a:t>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2148840"/>
            <a:ext cx="1691640" cy="150876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377439" y="2194560"/>
            <a:ext cx="420624" cy="420624"/>
          </a:xfrm>
          <a:prstGeom prst="roundRect">
            <a:avLst>
              <a:gd name="adj" fmla="val 10000"/>
            </a:avLst>
          </a:prstGeom>
          <a:solidFill>
            <a:srgbClr val="01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39" y="2203704"/>
            <a:ext cx="420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32F3E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39" y="2679192"/>
            <a:ext cx="1600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Kinesis
Stream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39" y="3246120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5DBDB"/>
                </a:solidFill>
              </a:rPr>
              <a:t>12 shards
24h retention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7368" y="27432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9900"/>
                </a:solidFill>
              </a:rPr>
              <a:t>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07408" y="2148840"/>
            <a:ext cx="1691640" cy="150876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53128" y="2194560"/>
            <a:ext cx="420624" cy="420624"/>
          </a:xfrm>
          <a:prstGeom prst="roundRect">
            <a:avLst>
              <a:gd name="adj" fmla="val 10000"/>
            </a:avLst>
          </a:prstGeom>
          <a:solidFill>
            <a:srgbClr val="71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2203704"/>
            <a:ext cx="420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32F3E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2679192"/>
            <a:ext cx="1600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SageMaker
MCE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3246120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5DBDB"/>
                </a:solidFill>
              </a:rPr>
              <a:t>IF + LSTM +
XGBoost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3056" y="27432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9900"/>
                </a:solidFill>
              </a:rPr>
              <a:t>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83096" y="2148840"/>
            <a:ext cx="1691640" cy="150876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28816" y="2194560"/>
            <a:ext cx="420624" cy="420624"/>
          </a:xfrm>
          <a:prstGeom prst="roundRect">
            <a:avLst>
              <a:gd name="adj" fmla="val 10000"/>
            </a:avLst>
          </a:prstGeom>
          <a:solidFill>
            <a:srgbClr val="EC7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28816" y="2203704"/>
            <a:ext cx="420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32F3E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2679192"/>
            <a:ext cx="1600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EventBridge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8816" y="3246120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5DBDB"/>
                </a:solidFill>
              </a:rPr>
              <a:t>TankAnomalyDetected
(threshold 0.7)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38744" y="27432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9900"/>
                </a:solidFill>
              </a:rPr>
              <a:t>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58784" y="2148840"/>
            <a:ext cx="1691640" cy="150876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604504" y="2194560"/>
            <a:ext cx="420624" cy="420624"/>
          </a:xfrm>
          <a:prstGeom prst="roundRect">
            <a:avLst>
              <a:gd name="adj" fmla="val 10000"/>
            </a:avLst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04504" y="2203704"/>
            <a:ext cx="420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32F3E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04504" y="2679192"/>
            <a:ext cx="1600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Functions
Workflow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04504" y="3246120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5DBDB"/>
                </a:solidFill>
              </a:rPr>
              <a:t>6-step
orchestration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44768" y="3657600"/>
            <a:ext cx="18288" cy="32003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65760" y="3977639"/>
            <a:ext cx="5394960" cy="2423160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3977639"/>
            <a:ext cx="5394960" cy="347472"/>
          </a:xfrm>
          <a:prstGeom prst="rect">
            <a:avLst/>
          </a:prstGeom>
          <a:solidFill>
            <a:srgbClr val="EC7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" y="4014215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2F3E"/>
                </a:solidFill>
              </a:rPr>
              <a:t>MPS Agent (Bedrock AgentCore)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" y="443484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5DBDB"/>
                </a:solidFill>
              </a:rPr>
              <a:t>Tool chain: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" y="4690872"/>
            <a:ext cx="51755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get_affected_jobs → get_line_status
→ compute_reschedule → apply_schedule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" y="534924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5DBDB"/>
                </a:solidFill>
              </a:rPr>
              <a:t>Output: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" y="5605272"/>
            <a:ext cx="51755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9900"/>
                </a:solidFill>
              </a:rPr>
              <a:t>projected_jph • fbo_delay_mins • job assignments → DynamoDB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3977639"/>
            <a:ext cx="5394960" cy="2423160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9360" y="3977639"/>
            <a:ext cx="5394960" cy="347472"/>
          </a:xfrm>
          <a:prstGeom prst="rect">
            <a:avLst/>
          </a:prstGeom>
          <a:solidFill>
            <a:srgbClr val="1A9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19088" y="4014215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2F3E"/>
                </a:solidFill>
              </a:rPr>
              <a:t>RCA Agent (Bedrock AgentCore)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9088" y="443484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5DBDB"/>
                </a:solidFill>
              </a:rPr>
              <a:t>Tool chain: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9088" y="4690872"/>
            <a:ext cx="51755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get_sensor_history → get_fault_context (Neptune)
→ get_maintenance_record → write_rca_report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9088" y="534924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5DBDB"/>
                </a:solidFill>
              </a:rPr>
              <a:t>Output: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19088" y="5605272"/>
            <a:ext cx="51755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9C3E"/>
                </a:solidFill>
              </a:rPr>
              <a:t>root_cause • severity • recommendation → rca-reports table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0" y="3593591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C7211"/>
                </a:solidFill>
              </a:rPr>
              <a:t>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3593591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9C3E"/>
                </a:solidFill>
              </a:rPr>
              <a:t>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629400"/>
            <a:ext cx="12188952" cy="155448"/>
          </a:xfrm>
          <a:prstGeom prst="rect">
            <a:avLst/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6638544"/>
            <a:ext cx="116403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</a:rPr>
              <a:t>NAMER AutoMFG BM2026  •  Team 2  •  SPARK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941832"/>
          </a:xfrm>
          <a:prstGeom prst="rect">
            <a:avLst/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Tank Layout — LINE-1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5DBDB"/>
                </a:solidFill>
              </a:rPr>
              <a:t>8 pre-treatment + 4 e-coat tanks • Car body travels left →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645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9900"/>
                </a:solidFill>
              </a:rPr>
              <a:t>Amazon Web Services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97280"/>
            <a:ext cx="2057400" cy="5074920"/>
          </a:xfrm>
          <a:prstGeom prst="rect">
            <a:avLst/>
          </a:prstGeom>
          <a:solidFill>
            <a:srgbClr val="1A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143000"/>
            <a:ext cx="1965960" cy="320040"/>
          </a:xfrm>
          <a:prstGeom prst="roundRect">
            <a:avLst>
              <a:gd name="adj" fmla="val 10000"/>
            </a:avLst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161288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2F3E"/>
                </a:solidFill>
              </a:rPr>
              <a:t>PRE-CLEAN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600200"/>
            <a:ext cx="891539" cy="192024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600200"/>
            <a:ext cx="891539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673352"/>
            <a:ext cx="89153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PT-01
Alkaline
Degreaser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1600200"/>
            <a:ext cx="891539" cy="192024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80160" y="1600200"/>
            <a:ext cx="891539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1673352"/>
            <a:ext cx="89153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PT-02
Alkaline
Degreaser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1097280"/>
            <a:ext cx="2331720" cy="5074920"/>
          </a:xfrm>
          <a:prstGeom prst="rect">
            <a:avLst/>
          </a:prstGeom>
          <a:solidFill>
            <a:srgbClr val="00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651760" y="1143000"/>
            <a:ext cx="2240280" cy="320040"/>
          </a:xfrm>
          <a:prstGeom prst="roundRect">
            <a:avLst>
              <a:gd name="adj" fmla="val 10000"/>
            </a:avLst>
          </a:prstGeom>
          <a:solidFill>
            <a:srgbClr val="01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116128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2F3E"/>
                </a:solidFill>
              </a:rPr>
              <a:t>RINSE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97480" y="1600200"/>
            <a:ext cx="1028700" cy="192024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97480" y="1600200"/>
            <a:ext cx="1028700" cy="64008"/>
          </a:xfrm>
          <a:prstGeom prst="rect">
            <a:avLst/>
          </a:prstGeom>
          <a:solidFill>
            <a:srgbClr val="01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1673352"/>
            <a:ext cx="10287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PT-03
Rinse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94760" y="1600200"/>
            <a:ext cx="1028700" cy="192024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4760" y="1600200"/>
            <a:ext cx="1028700" cy="64008"/>
          </a:xfrm>
          <a:prstGeom prst="rect">
            <a:avLst/>
          </a:prstGeom>
          <a:solidFill>
            <a:srgbClr val="01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60" y="1673352"/>
            <a:ext cx="10287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PT-04
Rinse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4920" y="1097280"/>
            <a:ext cx="3429000" cy="5074920"/>
          </a:xfrm>
          <a:prstGeom prst="rect">
            <a:avLst/>
          </a:prstGeom>
          <a:solidFill>
            <a:srgbClr val="01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120640" y="1143000"/>
            <a:ext cx="3337560" cy="320040"/>
          </a:xfrm>
          <a:prstGeom prst="roundRect">
            <a:avLst>
              <a:gd name="adj" fmla="val 10000"/>
            </a:avLst>
          </a:prstGeom>
          <a:solidFill>
            <a:srgbClr val="1A9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116128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2F3E"/>
                </a:solidFill>
              </a:rPr>
              <a:t>PHOSPHATE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66359" y="1600200"/>
            <a:ext cx="1036320" cy="192024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66359" y="1600200"/>
            <a:ext cx="1036320" cy="64008"/>
          </a:xfrm>
          <a:prstGeom prst="rect">
            <a:avLst/>
          </a:prstGeom>
          <a:solidFill>
            <a:srgbClr val="1A9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66359" y="1673352"/>
            <a:ext cx="103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PT-05
Ti Pre-
activation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1600200"/>
            <a:ext cx="1036320" cy="192024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1600200"/>
            <a:ext cx="1036320" cy="64008"/>
          </a:xfrm>
          <a:prstGeom prst="rect">
            <a:avLst/>
          </a:prstGeom>
          <a:solidFill>
            <a:srgbClr val="1A9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1673352"/>
            <a:ext cx="103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PT-06
Zinc
Phosphate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60920" y="1600200"/>
            <a:ext cx="1036320" cy="192024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60920" y="1600200"/>
            <a:ext cx="1036320" cy="64008"/>
          </a:xfrm>
          <a:prstGeom prst="rect">
            <a:avLst/>
          </a:prstGeom>
          <a:solidFill>
            <a:srgbClr val="1A9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60920" y="1673352"/>
            <a:ext cx="103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PT-07
Rinse 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41080" y="1097280"/>
            <a:ext cx="1965960" cy="5074920"/>
          </a:xfrm>
          <a:prstGeom prst="rect">
            <a:avLst/>
          </a:prstGeom>
          <a:solidFill>
            <a:srgbClr val="24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686800" y="1143000"/>
            <a:ext cx="1874520" cy="320040"/>
          </a:xfrm>
          <a:prstGeom prst="roundRect">
            <a:avLst>
              <a:gd name="adj" fmla="val 10000"/>
            </a:avLst>
          </a:prstGeom>
          <a:solidFill>
            <a:srgbClr val="EC7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1161288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2F3E"/>
                </a:solidFill>
              </a:rPr>
              <a:t>SEAL/ED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32519" y="1600200"/>
            <a:ext cx="845820" cy="192024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32519" y="1600200"/>
            <a:ext cx="845820" cy="64008"/>
          </a:xfrm>
          <a:prstGeom prst="rect">
            <a:avLst/>
          </a:prstGeom>
          <a:solidFill>
            <a:srgbClr val="EC7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32519" y="1673352"/>
            <a:ext cx="8458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PT-08
Passivation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46919" y="1600200"/>
            <a:ext cx="845820" cy="192024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46919" y="1600200"/>
            <a:ext cx="845820" cy="64008"/>
          </a:xfrm>
          <a:prstGeom prst="rect">
            <a:avLst/>
          </a:prstGeom>
          <a:solidFill>
            <a:srgbClr val="EC7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46919" y="1673352"/>
            <a:ext cx="8458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ED-01
E-Coat Bath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744200" y="1097280"/>
            <a:ext cx="1234439" cy="5074920"/>
          </a:xfrm>
          <a:prstGeom prst="rect">
            <a:avLst/>
          </a:prstGeom>
          <a:solidFill>
            <a:srgbClr val="00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789920" y="1143000"/>
            <a:ext cx="1142999" cy="320040"/>
          </a:xfrm>
          <a:prstGeom prst="roundRect">
            <a:avLst>
              <a:gd name="adj" fmla="val 10000"/>
            </a:avLst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89920" y="1161288"/>
            <a:ext cx="11429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2F3E"/>
                </a:solidFill>
              </a:rPr>
              <a:t>ED RINSE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835640" y="1600200"/>
            <a:ext cx="304799" cy="192024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835640" y="1600200"/>
            <a:ext cx="304799" cy="64008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835640" y="1673352"/>
            <a:ext cx="30479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ED-02
ED Rinse 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201400" y="1600200"/>
            <a:ext cx="304799" cy="192024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201400" y="1600200"/>
            <a:ext cx="304799" cy="64008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201400" y="1673352"/>
            <a:ext cx="30479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ED-03
ED Rinse 2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567159" y="1600200"/>
            <a:ext cx="304799" cy="192024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567159" y="1600200"/>
            <a:ext cx="304799" cy="64008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567159" y="1673352"/>
            <a:ext cx="30479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ED-04
DI Rinse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" y="3749039"/>
            <a:ext cx="11731752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841480" y="3611880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9900"/>
                </a:solidFill>
              </a:rPr>
              <a:t>►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" y="391363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9900"/>
                </a:solidFill>
              </a:rPr>
              <a:t>BODY-IN-WHITE INPUT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0" y="39136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9C3E"/>
                </a:solidFill>
              </a:rPr>
              <a:t>COATED BODY OUTPUT → OVEN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8600" y="6126480"/>
            <a:ext cx="1173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5DBDB"/>
                </a:solidFill>
              </a:rPr>
              <a:t>All 12 tanks monitored by SageMaker MCE  •  9 fault types classified  •  Alerts via EventBridge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629400"/>
            <a:ext cx="12188952" cy="155448"/>
          </a:xfrm>
          <a:prstGeom prst="rect">
            <a:avLst/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" y="6638544"/>
            <a:ext cx="116403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</a:rPr>
              <a:t>NAMER AutoMFG BM2026  •  Team 2  •  SPARK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941832"/>
          </a:xfrm>
          <a:prstGeom prst="rect">
            <a:avLst/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ML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5DBDB"/>
                </a:solidFill>
              </a:rPr>
              <a:t>Three-model ensemble — SageMaker Multi-Container Endpoint (InService)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645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9900"/>
                </a:solidFill>
              </a:rPr>
              <a:t>Amazon Web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3520440" cy="379476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3520440" cy="566928"/>
          </a:xfrm>
          <a:prstGeom prst="roundRect">
            <a:avLst>
              <a:gd name="adj" fmla="val 10000"/>
            </a:avLst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32F3E"/>
                </a:solidFill>
              </a:rPr>
              <a:t>Isolation
Forest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184708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900"/>
                </a:solidFill>
              </a:rPr>
              <a:t>Output: if_score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17627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Unsupervised anomaly detection
Outputs contamination score 0-1
Sklearn 1.2 • ml.m5.xlarge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321868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5DBDB"/>
                </a:solidFill>
              </a:rPr>
              <a:t>Value: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34564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5DBDB"/>
                </a:solidFill>
              </a:rPr>
              <a:t>Baseline anomaly flagging
per sensor reading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43400"/>
            <a:ext cx="3063240" cy="347472"/>
          </a:xfrm>
          <a:prstGeom prst="roundRect">
            <a:avLst>
              <a:gd name="adj" fmla="val 10000"/>
            </a:avLst>
          </a:prstGeom>
          <a:solidFill>
            <a:srgbClr val="05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61688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9C3E"/>
                </a:solidFill>
              </a:rPr>
              <a:t>✓  DEPLOYED — InService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188720"/>
            <a:ext cx="3520440" cy="379476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51960" y="1188720"/>
            <a:ext cx="3520440" cy="566928"/>
          </a:xfrm>
          <a:prstGeom prst="roundRect">
            <a:avLst>
              <a:gd name="adj" fmla="val 10000"/>
            </a:avLst>
          </a:prstGeom>
          <a:solidFill>
            <a:srgbClr val="71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1234440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32F3E"/>
                </a:solidFill>
              </a:rPr>
              <a:t>LSTM
Autoencoder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184708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157FF"/>
                </a:solidFill>
              </a:rPr>
              <a:t>Output: lstm_score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217627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Temporal sequence learning
Reconstruction error as signal
PyTorch 2.0 • ml.m5.2xlarge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321868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5DBDB"/>
                </a:solidFill>
              </a:rPr>
              <a:t>Value: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34564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5DBDB"/>
                </a:solidFill>
              </a:rPr>
              <a:t>Drift detection over time
Catches gradual degradation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4343400"/>
            <a:ext cx="3063240" cy="347472"/>
          </a:xfrm>
          <a:prstGeom prst="roundRect">
            <a:avLst>
              <a:gd name="adj" fmla="val 10000"/>
            </a:avLst>
          </a:prstGeom>
          <a:solidFill>
            <a:srgbClr val="05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4361688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9C3E"/>
                </a:solidFill>
              </a:rPr>
              <a:t>✓  DEPLOYED — InService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1188720"/>
            <a:ext cx="3520440" cy="379476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92440" y="1188720"/>
            <a:ext cx="3520440" cy="566928"/>
          </a:xfrm>
          <a:prstGeom prst="roundRect">
            <a:avLst>
              <a:gd name="adj" fmla="val 10000"/>
            </a:avLst>
          </a:prstGeom>
          <a:solidFill>
            <a:srgbClr val="1A9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1234440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32F3E"/>
                </a:solidFill>
              </a:rPr>
              <a:t>XGBoost
Fault Classifier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2167" y="184708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9C3E"/>
                </a:solidFill>
              </a:rPr>
              <a:t>Output: fault_type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2167" y="217627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9-class fault classification
Returns label + confidence
XGBoost 1.7 • ml.m5.xlarge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167" y="321868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5DBDB"/>
                </a:solidFill>
              </a:rPr>
              <a:t>Value: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2167" y="34564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5DBDB"/>
                </a:solidFill>
              </a:rPr>
              <a:t>Names the fault type:
zinc_depletion, ph_drift, etc.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21040" y="4343400"/>
            <a:ext cx="3063240" cy="347472"/>
          </a:xfrm>
          <a:prstGeom prst="roundRect">
            <a:avLst>
              <a:gd name="adj" fmla="val 10000"/>
            </a:avLst>
          </a:prstGeom>
          <a:solidFill>
            <a:srgbClr val="05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361688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9C3E"/>
                </a:solidFill>
              </a:rPr>
              <a:t>✓  DEPLOYED — InService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4892040"/>
            <a:ext cx="11365992" cy="777240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95604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00"/>
                </a:solidFill>
              </a:rPr>
              <a:t>Endpoint: paintshop-anomaly-endpoint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23036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InferenceExecutionConfig: Direct (per-container targeting)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47725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Instance: ml.m5.xlarge  •  All 3 containers on same host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523036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Training data: 6 months × 12 tanks • ~960k labelled rows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547725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Pipeline: PaintShopAnomalyPipeline  •  SageMaker Model Registry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29400"/>
            <a:ext cx="12188952" cy="155448"/>
          </a:xfrm>
          <a:prstGeom prst="rect">
            <a:avLst/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638544"/>
            <a:ext cx="116403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</a:rPr>
              <a:t>NAMER AutoMFG BM2026  •  Team 2  •  SPARK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941832"/>
          </a:xfrm>
          <a:prstGeom prst="rect">
            <a:avLst/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Fault Types by Tank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5DBDB"/>
                </a:solidFill>
              </a:rPr>
              <a:t>9 fault signatures • All classified by XGBoost • All seeded in Neptune knowledge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645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9900"/>
                </a:solidFill>
              </a:rPr>
              <a:t>Amazon Web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" y="1170432"/>
            <a:ext cx="3767328" cy="1115568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170432"/>
            <a:ext cx="64008" cy="1115568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216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</a:rPr>
              <a:t>ACID DRIFT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207008"/>
            <a:ext cx="1188720" cy="256032"/>
          </a:xfrm>
          <a:prstGeom prst="roundRect">
            <a:avLst>
              <a:gd name="adj" fmla="val 10000"/>
            </a:avLst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22529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32F3E"/>
                </a:solidFill>
              </a:rPr>
              <a:t>PT-06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Sensor: free_acid_pts 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810512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Impact: Coating too thick / brittle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9664" y="1170432"/>
            <a:ext cx="3767328" cy="1115568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9664" y="1170432"/>
            <a:ext cx="64008" cy="111556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216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9900"/>
                </a:solidFill>
              </a:rPr>
              <a:t>ZINC DEPLETION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56832" y="1207008"/>
            <a:ext cx="1188720" cy="256032"/>
          </a:xfrm>
          <a:prstGeom prst="roundRect">
            <a:avLst>
              <a:gd name="adj" fmla="val 10000"/>
            </a:avLst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122529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32F3E"/>
                </a:solidFill>
              </a:rPr>
              <a:t>PT-06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536192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Sensor: zinc_g_per_l 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1810512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Impact: Bare spots — no coverage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83296" y="1170432"/>
            <a:ext cx="3767328" cy="1115568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3296" y="1170432"/>
            <a:ext cx="64008" cy="1115568"/>
          </a:xfrm>
          <a:prstGeom prst="rect">
            <a:avLst/>
          </a:prstGeom>
          <a:solidFill>
            <a:srgbClr val="01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1216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1A88D"/>
                </a:solidFill>
              </a:rPr>
              <a:t>ACCELERATOR DEPLETION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70464" y="1207008"/>
            <a:ext cx="1188720" cy="256032"/>
          </a:xfrm>
          <a:prstGeom prst="roundRect">
            <a:avLst>
              <a:gd name="adj" fmla="val 10000"/>
            </a:avLst>
          </a:prstGeom>
          <a:solidFill>
            <a:srgbClr val="01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70464" y="122529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32F3E"/>
                </a:solidFill>
              </a:rPr>
              <a:t>PT-06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1536192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Sensor: accelerator_pts 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1810512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Impact: Slow / uneven crystal growth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6032" y="2404872"/>
            <a:ext cx="3767328" cy="1115568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6032" y="2404872"/>
            <a:ext cx="64008" cy="1115568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245059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3BB"/>
                </a:solidFill>
              </a:rPr>
              <a:t>TITANIUM DEPLETION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0" y="2441448"/>
            <a:ext cx="1188720" cy="256032"/>
          </a:xfrm>
          <a:prstGeom prst="roundRect">
            <a:avLst>
              <a:gd name="adj" fmla="val 10000"/>
            </a:avLst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0" y="245973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32F3E"/>
                </a:solidFill>
              </a:rPr>
              <a:t>PT-05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2770632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Sensor: titanium_ppm 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3044952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Impact: Coarse crystals, poor adhesion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69664" y="2404872"/>
            <a:ext cx="3767328" cy="1115568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69664" y="2404872"/>
            <a:ext cx="64008" cy="1115568"/>
          </a:xfrm>
          <a:prstGeom prst="rect">
            <a:avLst/>
          </a:prstGeom>
          <a:solidFill>
            <a:srgbClr val="1A9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0" y="245059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9C3E"/>
                </a:solidFill>
              </a:rPr>
              <a:t>ALKALINITY DEPLETION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56832" y="2441448"/>
            <a:ext cx="1188720" cy="256032"/>
          </a:xfrm>
          <a:prstGeom prst="roundRect">
            <a:avLst>
              <a:gd name="adj" fmla="val 10000"/>
            </a:avLst>
          </a:prstGeom>
          <a:solidFill>
            <a:srgbClr val="1A9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56832" y="245973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32F3E"/>
                </a:solidFill>
              </a:rPr>
              <a:t>PT-01 / PT-02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2770632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Sensor: free_alkalinity 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3044952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Impact: Oil carry-over, poor degreasing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83296" y="2404872"/>
            <a:ext cx="3767328" cy="1115568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83296" y="2404872"/>
            <a:ext cx="64008" cy="1115568"/>
          </a:xfrm>
          <a:prstGeom prst="rect">
            <a:avLst/>
          </a:prstGeom>
          <a:solidFill>
            <a:srgbClr val="71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11312" y="245059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157FF"/>
                </a:solidFill>
              </a:rPr>
              <a:t>RINSE CONTAMINATION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570464" y="2441448"/>
            <a:ext cx="1188720" cy="256032"/>
          </a:xfrm>
          <a:prstGeom prst="roundRect">
            <a:avLst>
              <a:gd name="adj" fmla="val 10000"/>
            </a:avLst>
          </a:prstGeom>
          <a:solidFill>
            <a:srgbClr val="71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70464" y="245973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32F3E"/>
                </a:solidFill>
              </a:rPr>
              <a:t>PT-03/04/07
ED-02/03/04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11312" y="2770632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Sensor: conductivity 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1312" y="3044952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Impact: Chemical drag-over, adhesion loss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56032" y="3639312"/>
            <a:ext cx="3767328" cy="1115568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56032" y="3639312"/>
            <a:ext cx="64008" cy="1115568"/>
          </a:xfrm>
          <a:prstGeom prst="rect">
            <a:avLst/>
          </a:prstGeom>
          <a:solidFill>
            <a:srgbClr val="EC7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4048" y="3685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C7211"/>
                </a:solidFill>
              </a:rPr>
              <a:t>TEMPERATURE CREEP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43200" y="3675888"/>
            <a:ext cx="1188720" cy="256032"/>
          </a:xfrm>
          <a:prstGeom prst="roundRect">
            <a:avLst>
              <a:gd name="adj" fmla="val 10000"/>
            </a:avLst>
          </a:prstGeom>
          <a:solidFill>
            <a:srgbClr val="EC7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0" y="369417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32F3E"/>
                </a:solidFill>
              </a:rPr>
              <a:t>ED-01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048" y="4005072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Sensor: temperature_c HIGH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4048" y="4279392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Impact: Paint film defects, blistering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69664" y="3639312"/>
            <a:ext cx="3767328" cy="1115568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169664" y="3639312"/>
            <a:ext cx="64008" cy="111556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97680" y="3685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9900"/>
                </a:solidFill>
              </a:rPr>
              <a:t>MEQ ACID BUILDUP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656832" y="3675888"/>
            <a:ext cx="1188720" cy="256032"/>
          </a:xfrm>
          <a:prstGeom prst="roundRect">
            <a:avLst>
              <a:gd name="adj" fmla="val 10000"/>
            </a:avLst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56832" y="369417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32F3E"/>
                </a:solidFill>
              </a:rPr>
              <a:t>ED-01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97680" y="4005072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Sensor: meq_acid HIGH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97680" y="4279392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Impact: Bath acidification, film reject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083296" y="3639312"/>
            <a:ext cx="3767328" cy="1115568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083296" y="3639312"/>
            <a:ext cx="64008" cy="1115568"/>
          </a:xfrm>
          <a:prstGeom prst="rect">
            <a:avLst/>
          </a:prstGeom>
          <a:solidFill>
            <a:srgbClr val="01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11312" y="3685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1A88D"/>
                </a:solidFill>
              </a:rPr>
              <a:t>PH DRIFT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570464" y="3675888"/>
            <a:ext cx="1188720" cy="256032"/>
          </a:xfrm>
          <a:prstGeom prst="roundRect">
            <a:avLst>
              <a:gd name="adj" fmla="val 10000"/>
            </a:avLst>
          </a:prstGeom>
          <a:solidFill>
            <a:srgbClr val="01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570464" y="369417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32F3E"/>
                </a:solidFill>
              </a:rPr>
              <a:t>PT-08 / ED-01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11312" y="4005072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Sensor: ph HIGH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11312" y="4279392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Impact: Coating weight variance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629400"/>
            <a:ext cx="12188952" cy="155448"/>
          </a:xfrm>
          <a:prstGeom prst="rect">
            <a:avLst/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4320" y="6638544"/>
            <a:ext cx="116403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</a:rPr>
              <a:t>NAMER AutoMFG BM2026  •  Team 2  •  SPARK  •  Neptune KG: 33 FaultType vertices • 33 SOPs • causal chain edges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941832"/>
          </a:xfrm>
          <a:prstGeom prst="rect">
            <a:avLst/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AI Agents — Bedrock AgentCore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5DBDB"/>
                </a:solidFill>
              </a:rPr>
              <a:t>Two autonomous agents • Strands framework • Claude 3.5 Haiku • ~55s 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645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9900"/>
                </a:solidFill>
              </a:rPr>
              <a:t>Amazon Web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15568"/>
            <a:ext cx="5669280" cy="534924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15568"/>
            <a:ext cx="5669280" cy="411480"/>
          </a:xfrm>
          <a:prstGeom prst="rect">
            <a:avLst/>
          </a:prstGeom>
          <a:solidFill>
            <a:srgbClr val="EC7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32F3E"/>
                </a:solidFill>
              </a:rPr>
              <a:t>MPS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143000"/>
            <a:ext cx="1600200" cy="32004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59" y="1161288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claude-3.5-haiku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600200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D5DBDB"/>
                </a:solidFill>
              </a:rPr>
              <a:t>Master Production Schedule Supervisor
Reschedules affected jobs when a tank degrades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148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C7211"/>
                </a:solidFill>
              </a:rPr>
              <a:t>TOOL CHAIN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79" y="2395728"/>
            <a:ext cx="5394960" cy="512064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79" y="2395728"/>
            <a:ext cx="45720" cy="512064"/>
          </a:xfrm>
          <a:prstGeom prst="rect">
            <a:avLst/>
          </a:prstGeom>
          <a:solidFill>
            <a:srgbClr val="EC7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243230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C7211"/>
                </a:solidFill>
              </a:rPr>
              <a:t>get_affected_jobs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651760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5DBDB"/>
                </a:solidFill>
              </a:rPr>
              <a:t>Fetches IN_PROGRESS + QUEUED jobs for the offline tank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79" y="2990088"/>
            <a:ext cx="5394960" cy="512064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79" y="2990088"/>
            <a:ext cx="45720" cy="512064"/>
          </a:xfrm>
          <a:prstGeom prst="rect">
            <a:avLst/>
          </a:prstGeom>
          <a:solidFill>
            <a:srgbClr val="EC7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02666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C7211"/>
                </a:solidFill>
              </a:rPr>
              <a:t>get_line_status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" y="3246120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5DBDB"/>
                </a:solidFill>
              </a:rPr>
              <a:t>Identifies healthy alternative tanks on the same 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79" y="3584448"/>
            <a:ext cx="5394960" cy="512064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79" y="3584448"/>
            <a:ext cx="45720" cy="512064"/>
          </a:xfrm>
          <a:prstGeom prst="rect">
            <a:avLst/>
          </a:prstGeom>
          <a:solidFill>
            <a:srgbClr val="EC7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362102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C7211"/>
                </a:solidFill>
              </a:rPr>
              <a:t>compute_reschedule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3840480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5DBDB"/>
                </a:solidFill>
              </a:rPr>
              <a:t>Runs constraints solver — returns optimal assignment plan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79" y="4178808"/>
            <a:ext cx="5394960" cy="512064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79" y="4178808"/>
            <a:ext cx="45720" cy="512064"/>
          </a:xfrm>
          <a:prstGeom prst="rect">
            <a:avLst/>
          </a:prstGeom>
          <a:solidFill>
            <a:srgbClr val="EC7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" y="421538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C7211"/>
                </a:solidFill>
              </a:rPr>
              <a:t>apply_schedule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" y="4434840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5DBDB"/>
                </a:solidFill>
              </a:rPr>
              <a:t>Commits new assignments to production-jobs DynamoDB table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48188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C7211"/>
                </a:solidFill>
              </a:rPr>
              <a:t>OUTPUT FIELDS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79" y="5047488"/>
            <a:ext cx="1508760" cy="274320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" y="5065776"/>
            <a:ext cx="14173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9900"/>
                </a:solidFill>
              </a:rPr>
              <a:t>projected_jph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11680" y="5047488"/>
            <a:ext cx="1600200" cy="274320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66544" y="5065776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1A88D"/>
                </a:solidFill>
              </a:rPr>
              <a:t>fbo_delay_mins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03320" y="5047488"/>
            <a:ext cx="1600200" cy="274320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58184" y="5065776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9C3E"/>
                </a:solidFill>
              </a:rPr>
              <a:t>rerouted_count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94960" y="5047488"/>
            <a:ext cx="1234440" cy="274320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49824" y="5065776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5DBDB"/>
                </a:solidFill>
              </a:rPr>
              <a:t>held_count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1115568"/>
            <a:ext cx="5669280" cy="534924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1115568"/>
            <a:ext cx="5669280" cy="411480"/>
          </a:xfrm>
          <a:prstGeom prst="rect">
            <a:avLst/>
          </a:prstGeom>
          <a:solidFill>
            <a:srgbClr val="1A9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32F3E"/>
                </a:solidFill>
              </a:rPr>
              <a:t>RCA Agent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95559" y="1143000"/>
            <a:ext cx="1600200" cy="32004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41280" y="1161288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claude-3.5-haiku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1600200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D5DBDB"/>
                </a:solidFill>
              </a:rPr>
              <a:t>Root-Cause Analysis Investigator
Identifies why a fault occurred and recommends remediation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2148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9C3E"/>
                </a:solidFill>
              </a:rPr>
              <a:t>TOOL CHAIN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2395728"/>
            <a:ext cx="5394960" cy="512064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2395728"/>
            <a:ext cx="45720" cy="512064"/>
          </a:xfrm>
          <a:prstGeom prst="rect">
            <a:avLst/>
          </a:prstGeom>
          <a:solidFill>
            <a:srgbClr val="1A9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01383" y="243230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9C3E"/>
                </a:solidFill>
              </a:rPr>
              <a:t>get_sensor_history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01383" y="2651760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5DBDB"/>
                </a:solidFill>
              </a:rPr>
              <a:t>Retrieves 6-hour telemetry window from DynamoDB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2990088"/>
            <a:ext cx="5394960" cy="512064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0" y="2990088"/>
            <a:ext cx="45720" cy="512064"/>
          </a:xfrm>
          <a:prstGeom prst="rect">
            <a:avLst/>
          </a:prstGeom>
          <a:solidFill>
            <a:srgbClr val="1A9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01383" y="302666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9C3E"/>
                </a:solidFill>
              </a:rPr>
              <a:t>get_fault_context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01383" y="3246120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5DBDB"/>
                </a:solidFill>
              </a:rPr>
              <a:t>Queries Neptune KG — severity, SOP, causal chain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0" y="3584448"/>
            <a:ext cx="5394960" cy="512064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0" y="3584448"/>
            <a:ext cx="45720" cy="512064"/>
          </a:xfrm>
          <a:prstGeom prst="rect">
            <a:avLst/>
          </a:prstGeom>
          <a:solidFill>
            <a:srgbClr val="1A9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01383" y="362102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9C3E"/>
                </a:solidFill>
              </a:rPr>
              <a:t>get_maintenance_record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01383" y="3840480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5DBDB"/>
                </a:solidFill>
              </a:rPr>
              <a:t>Checks maintenance history for the tank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0" y="4178808"/>
            <a:ext cx="5394960" cy="512064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00800" y="4178808"/>
            <a:ext cx="45720" cy="512064"/>
          </a:xfrm>
          <a:prstGeom prst="rect">
            <a:avLst/>
          </a:prstGeom>
          <a:solidFill>
            <a:srgbClr val="1A9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01383" y="421538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9C3E"/>
                </a:solidFill>
              </a:rPr>
              <a:t>write_rca_report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01383" y="4434840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5DBDB"/>
                </a:solidFill>
              </a:rPr>
              <a:t>Persists full RCA report to rca-reports DynamoDB table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48188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9C3E"/>
                </a:solidFill>
              </a:rPr>
              <a:t>OUTPUT FIELDS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0" y="5047488"/>
            <a:ext cx="1051560" cy="274320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55664" y="5065776"/>
            <a:ext cx="960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76F"/>
                </a:solidFill>
              </a:rPr>
              <a:t>severity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543800" y="5047488"/>
            <a:ext cx="1234440" cy="274320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98664" y="5065776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9900"/>
                </a:solidFill>
              </a:rPr>
              <a:t>root_cause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869680" y="5047488"/>
            <a:ext cx="1600200" cy="274320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24544" y="5065776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5DBDB"/>
                </a:solidFill>
              </a:rPr>
              <a:t>recommendation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561319" y="5047488"/>
            <a:ext cx="1143000" cy="274320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616184" y="5065776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F8C8D"/>
                </a:solidFill>
              </a:rPr>
              <a:t>report_id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60720" y="32004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F8C8D"/>
                </a:solidFill>
              </a:rPr>
              <a:t>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96128" y="3703320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7F8C8D"/>
                </a:solidFill>
              </a:rPr>
              <a:t>parallel
execution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629400"/>
            <a:ext cx="12188952" cy="155448"/>
          </a:xfrm>
          <a:prstGeom prst="rect">
            <a:avLst/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74320" y="6638544"/>
            <a:ext cx="116403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</a:rPr>
              <a:t>NAMER AutoMFG BM2026  •  Team 2  •  SPARK  •  AgentCore Gateway • Cognito M2M OAuth • Lambda tool targets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941832"/>
          </a:xfrm>
          <a:prstGeom prst="rect">
            <a:avLst/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Deployed AWS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5DBDB"/>
                </a:solidFill>
              </a:rPr>
              <a:t>9 CDK stacks • All CREATE_COMPLETE • us-east-1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645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9900"/>
                </a:solidFill>
              </a:rPr>
              <a:t>Amazon Web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170432"/>
            <a:ext cx="3703320" cy="160020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170432"/>
            <a:ext cx="3703320" cy="3657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16152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32F3E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225296"/>
            <a:ext cx="3282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2F3E"/>
                </a:solidFill>
              </a:rPr>
              <a:t>PaintShopStorage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1627632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S3: ml-paintshop-{account}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Versioned + lifecycle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2322576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Audit log bucket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51376" y="1170432"/>
            <a:ext cx="3703320" cy="160020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51376" y="1170432"/>
            <a:ext cx="3703320" cy="36576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528" y="1216152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32F3E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225296"/>
            <a:ext cx="3282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2F3E"/>
                </a:solidFill>
              </a:rPr>
              <a:t>PaintShopIam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2816" y="1627632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8 IAM roles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2816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Least-privilege policies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2816" y="2322576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Cross-stack references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1584" y="1170432"/>
            <a:ext cx="3703320" cy="160020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1584" y="1170432"/>
            <a:ext cx="3703320" cy="365760"/>
          </a:xfrm>
          <a:prstGeom prst="rect">
            <a:avLst/>
          </a:prstGeom>
          <a:solidFill>
            <a:srgbClr val="71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4736" y="1216152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32F3E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1225296"/>
            <a:ext cx="3282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2F3E"/>
                </a:solidFill>
              </a:rPr>
              <a:t>PaintShopSageMaker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1627632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MCE Endpoint (InService)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3 training containers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4" y="2322576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Model Package Group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1168" y="2935224"/>
            <a:ext cx="3703320" cy="160020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1168" y="2935224"/>
            <a:ext cx="3703320" cy="365760"/>
          </a:xfrm>
          <a:prstGeom prst="rect">
            <a:avLst/>
          </a:prstGeom>
          <a:solidFill>
            <a:srgbClr val="01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2980944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32F3E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990088"/>
            <a:ext cx="3282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2F3E"/>
                </a:solidFill>
              </a:rPr>
              <a:t>PaintShopIngestion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" y="339242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Kinesis (12 shards)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" y="3739896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Firehose → Parquet/S3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" y="4087368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Glue Catalog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51376" y="2935224"/>
            <a:ext cx="3703320" cy="160020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51376" y="2935224"/>
            <a:ext cx="3703320" cy="365760"/>
          </a:xfrm>
          <a:prstGeom prst="rect">
            <a:avLst/>
          </a:prstGeom>
          <a:solidFill>
            <a:srgbClr val="EC7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24528" y="2980944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32F3E"/>
                </a:solidFill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98848" y="2990088"/>
            <a:ext cx="3282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2F3E"/>
                </a:solidFill>
              </a:rPr>
              <a:t>PaintShopNeptune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42816" y="339242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Neptune Serverless 2-8 NCU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42816" y="3739896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33 FaultType vertices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42816" y="4087368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Gremlin endpoint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01584" y="2935224"/>
            <a:ext cx="3703320" cy="160020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01584" y="2935224"/>
            <a:ext cx="3703320" cy="365760"/>
          </a:xfrm>
          <a:prstGeom prst="rect">
            <a:avLst/>
          </a:prstGeom>
          <a:solidFill>
            <a:srgbClr val="1A9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74736" y="2980944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32F3E"/>
                </a:solidFill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49056" y="2990088"/>
            <a:ext cx="3282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2F3E"/>
                </a:solidFill>
              </a:rPr>
              <a:t>PaintShopBedrock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3024" y="339242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Bedrock Knowledge Base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93024" y="3739896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SOP documents (OpenSearch)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3024" y="4087368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MPS + RCA invoker Lambdas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01168" y="4700016"/>
            <a:ext cx="3703320" cy="160020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01168" y="4700016"/>
            <a:ext cx="3703320" cy="3657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4745736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32F3E"/>
                </a:solidFill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4754879"/>
            <a:ext cx="3282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2F3E"/>
                </a:solidFill>
              </a:rPr>
              <a:t>PaintShopScheduling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2608" y="5157216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3 DynamoDB tables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2608" y="5504688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Step Functions (6 steps)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8" y="5852159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EventBridge rule → SFN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51376" y="4700016"/>
            <a:ext cx="3703320" cy="160020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151376" y="4700016"/>
            <a:ext cx="3703320" cy="36576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24528" y="4745736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32F3E"/>
                </a:solidFill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98848" y="4754879"/>
            <a:ext cx="3282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2F3E"/>
                </a:solidFill>
              </a:rPr>
              <a:t>PaintShopApi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42816" y="5157216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REST API + WebSocket API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42816" y="5504688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Cognito User Pool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42816" y="5852159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Lambda URL (agent stream)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01584" y="4700016"/>
            <a:ext cx="3703320" cy="1600200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101584" y="4700016"/>
            <a:ext cx="3703320" cy="365760"/>
          </a:xfrm>
          <a:prstGeom prst="rect">
            <a:avLst/>
          </a:prstGeom>
          <a:solidFill>
            <a:srgbClr val="71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74736" y="4745736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32F3E"/>
                </a:solidFill>
              </a:rP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49056" y="4754879"/>
            <a:ext cx="3282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2F3E"/>
                </a:solidFill>
              </a:rPr>
              <a:t>PaintShopFrontend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93024" y="5157216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CloudFront distribution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5504688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S3 static site bucket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93024" y="5852159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5DBDB"/>
                </a:solidFill>
              </a:rPr>
              <a:t>• WAF web ACL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629400"/>
            <a:ext cx="12188952" cy="155448"/>
          </a:xfrm>
          <a:prstGeom prst="rect">
            <a:avLst/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4320" y="6638544"/>
            <a:ext cx="116403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</a:rPr>
              <a:t>NAMER AutoMFG BM2026  •  Team 2  •  SPARK  •  CDK v2 (Python) • Infrastructure as Code • All stacks in dependency order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941832"/>
          </a:xfrm>
          <a:prstGeom prst="rect">
            <a:avLst/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5DBDB"/>
                </a:solidFill>
              </a:rPr>
              <a:t>Fault injection → ML detection → autonomous agent response • ~90 seconds 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645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9900"/>
                </a:solidFill>
              </a:rPr>
              <a:t>Amazon Web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25880"/>
            <a:ext cx="1719072" cy="1874519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1371600"/>
            <a:ext cx="438912" cy="438912"/>
          </a:xfrm>
          <a:prstGeom prst="roundRect">
            <a:avLst>
              <a:gd name="adj" fmla="val 10000"/>
            </a:avLst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80744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32F3E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1874519"/>
            <a:ext cx="160934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9900"/>
                </a:solidFill>
              </a:rPr>
              <a:t>Open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86000"/>
            <a:ext cx="153619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Navigate to CloudFront URL
Log in with Cognito credentials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0823" y="2011680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9900"/>
                </a:solidFill>
              </a:rPr>
              <a:t>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31135" y="1325880"/>
            <a:ext cx="1719072" cy="1874519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76855" y="1371600"/>
            <a:ext cx="438912" cy="438912"/>
          </a:xfrm>
          <a:prstGeom prst="roundRect">
            <a:avLst>
              <a:gd name="adj" fmla="val 10000"/>
            </a:avLst>
          </a:prstGeom>
          <a:solidFill>
            <a:srgbClr val="01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76855" y="1380744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32F3E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5999" y="1874519"/>
            <a:ext cx="160934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1A88D"/>
                </a:solidFill>
              </a:rPr>
              <a:t>Inject Fault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2575" y="2286000"/>
            <a:ext cx="153619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Click "Inject [fault]" on any tank
Fault drifts in over ~90 seconds via SSM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2011680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9900"/>
                </a:solidFill>
              </a:rPr>
              <a:t>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87951" y="1325880"/>
            <a:ext cx="1719072" cy="1874519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33671" y="1371600"/>
            <a:ext cx="438912" cy="438912"/>
          </a:xfrm>
          <a:prstGeom prst="roundRect">
            <a:avLst>
              <a:gd name="adj" fmla="val 10000"/>
            </a:avLst>
          </a:prstGeom>
          <a:solidFill>
            <a:srgbClr val="71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33671" y="1380744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32F3E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2815" y="1874519"/>
            <a:ext cx="160934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157FF"/>
                </a:solidFill>
              </a:rPr>
              <a:t>ML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9391" y="2286000"/>
            <a:ext cx="153619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SageMaker MCE scores readings
IF + LSTM + XGBoost classify fault 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34455" y="2011680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9900"/>
                </a:solidFill>
              </a:rPr>
              <a:t>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7" y="1325880"/>
            <a:ext cx="1719072" cy="1874519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90487" y="1371600"/>
            <a:ext cx="438912" cy="438912"/>
          </a:xfrm>
          <a:prstGeom prst="roundRect">
            <a:avLst>
              <a:gd name="adj" fmla="val 10000"/>
            </a:avLst>
          </a:prstGeom>
          <a:solidFill>
            <a:srgbClr val="EC7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0487" y="1380744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32F3E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1" y="1874519"/>
            <a:ext cx="160934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C7211"/>
                </a:solidFill>
              </a:rPr>
              <a:t>Tank Degrades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7" y="2286000"/>
            <a:ext cx="153619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Status flips to DEGRADED
EventBridge fires TankAnomalyDetected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1271" y="2011680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9900"/>
                </a:solidFill>
              </a:rPr>
              <a:t>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01583" y="1325880"/>
            <a:ext cx="1719072" cy="1874519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47304" y="1371600"/>
            <a:ext cx="438912" cy="438912"/>
          </a:xfrm>
          <a:prstGeom prst="roundRect">
            <a:avLst>
              <a:gd name="adj" fmla="val 10000"/>
            </a:avLst>
          </a:prstGeom>
          <a:solidFill>
            <a:srgbClr val="1A9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47304" y="1380744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32F3E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1874519"/>
            <a:ext cx="160934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9C3E"/>
                </a:solidFill>
              </a:rPr>
              <a:t>Agents Activate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3" y="2286000"/>
            <a:ext cx="153619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Step Functions triggers both agents
MPS reschedules, RCA investigates (~55s)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48087" y="2011680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9900"/>
                </a:solidFill>
              </a:rPr>
              <a:t>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58400" y="1325880"/>
            <a:ext cx="1719072" cy="1874519"/>
          </a:xfrm>
          <a:prstGeom prst="roundRect">
            <a:avLst>
              <a:gd name="adj" fmla="val 10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104120" y="1371600"/>
            <a:ext cx="438912" cy="438912"/>
          </a:xfrm>
          <a:prstGeom prst="roundRect">
            <a:avLst>
              <a:gd name="adj" fmla="val 10000"/>
            </a:avLst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04120" y="1380744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32F3E"/>
                </a:solidFill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13264" y="1874519"/>
            <a:ext cx="160934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73BB"/>
                </a:solidFill>
              </a:rPr>
              <a:t>View Results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2286000"/>
            <a:ext cx="153619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Dashboard shows projected JPH
RCA report with root cause + recommendation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3493008"/>
            <a:ext cx="11640312" cy="2697480"/>
          </a:xfrm>
          <a:prstGeom prst="roundRect">
            <a:avLst>
              <a:gd name="adj" fmla="val 10000"/>
            </a:avLst>
          </a:prstGeom>
          <a:solidFill>
            <a:srgbClr val="1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35661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900"/>
                </a:solidFill>
              </a:rPr>
              <a:t>Key Metrics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977639"/>
            <a:ext cx="11640312" cy="1828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406908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9900"/>
                </a:solidFill>
              </a:rPr>
              <a:t>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47731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5DBDB"/>
                </a:solidFill>
              </a:rPr>
              <a:t>Tanks monitored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23160" y="406908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7157FF"/>
                </a:solidFill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23160" y="47731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5DBDB"/>
                </a:solidFill>
              </a:rPr>
              <a:t>Fault types classified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406908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9C3E"/>
                </a:solidFill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3400" y="47731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5DBDB"/>
                </a:solidFill>
              </a:rPr>
              <a:t>ML models in ensemble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406908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1A88D"/>
                </a:solidFill>
              </a:rPr>
              <a:t>~55s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7731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5DBDB"/>
                </a:solidFill>
              </a:rPr>
              <a:t>Agent execution time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80" y="406908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3BB"/>
                </a:solidFill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83880" y="47731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5DBDB"/>
                </a:solidFill>
              </a:rPr>
              <a:t>CDK stacks deployed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04120" y="406908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C7211"/>
                </a:solidFill>
              </a:rPr>
              <a:t>33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04120" y="47731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5DBDB"/>
                </a:solidFill>
              </a:rPr>
              <a:t>Neptune fault vertices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598932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7F8C8D"/>
                </a:solidFill>
              </a:rPr>
              <a:t>Reset to Normal after demo — tank returns to online status within 1 minute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629400"/>
            <a:ext cx="12188952" cy="155448"/>
          </a:xfrm>
          <a:prstGeom prst="rect">
            <a:avLst/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6638544"/>
            <a:ext cx="116403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</a:rPr>
              <a:t>NAMER AutoMFG BM2026  •  Team 2  •  SPARK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